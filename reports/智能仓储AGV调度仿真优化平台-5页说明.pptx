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3" r:id="rId8"/>
    <p:sldId id="264" r:id="rId9"/>
    <p:sldId id="266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9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9611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微软雅黑" panose="020B0503020204020204" charset="-122"/>
              </a:rPr>
              <a:t>平台整体流程</a:t>
            </a:r>
            <a:endParaRPr sz="2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49808" y="1828800"/>
            <a:ext cx="22402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950976" y="1975104"/>
            <a:ext cx="1929384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拓扑建模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950976" y="2359152"/>
            <a:ext cx="1929384" cy="8412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绘制道路、障碍、库位、站台、输送带和 AGV 节点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  <p:sp>
        <p:nvSpPr>
          <p:cNvPr id="9" name="Right Arrow 8"/>
          <p:cNvSpPr/>
          <p:nvPr>
            <p:custDataLst>
              <p:tags r:id="rId4"/>
            </p:custDataLst>
          </p:nvPr>
        </p:nvSpPr>
        <p:spPr>
          <a:xfrm>
            <a:off x="3054096" y="2313432"/>
            <a:ext cx="347472" cy="310896"/>
          </a:xfrm>
          <a:prstGeom prst="rightArrow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3538728" y="1828800"/>
            <a:ext cx="22402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3739896" y="1975104"/>
            <a:ext cx="1929384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场景配置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3739896" y="2359152"/>
            <a:ext cx="1929384" cy="8412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绑定拓扑，配置机器人、货物、任务和运行策略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  <p:sp>
        <p:nvSpPr>
          <p:cNvPr id="14" name="Right Arrow 13"/>
          <p:cNvSpPr/>
          <p:nvPr>
            <p:custDataLst>
              <p:tags r:id="rId8"/>
            </p:custDataLst>
          </p:nvPr>
        </p:nvSpPr>
        <p:spPr>
          <a:xfrm>
            <a:off x="5843016" y="2313432"/>
            <a:ext cx="347472" cy="310896"/>
          </a:xfrm>
          <a:prstGeom prst="rightArrow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>
            <p:custDataLst>
              <p:tags r:id="rId9"/>
            </p:custDataLst>
          </p:nvPr>
        </p:nvSpPr>
        <p:spPr>
          <a:xfrm>
            <a:off x="6327648" y="1828800"/>
            <a:ext cx="22402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6528816" y="1975104"/>
            <a:ext cx="1929384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仿真运行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6528816" y="2359152"/>
            <a:ext cx="1929384" cy="8412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启动调度过程，实时观察车辆路径和任务状态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  <p:sp>
        <p:nvSpPr>
          <p:cNvPr id="19" name="Right Arrow 18"/>
          <p:cNvSpPr/>
          <p:nvPr>
            <p:custDataLst>
              <p:tags r:id="rId12"/>
            </p:custDataLst>
          </p:nvPr>
        </p:nvSpPr>
        <p:spPr>
          <a:xfrm>
            <a:off x="8631936" y="2313432"/>
            <a:ext cx="347472" cy="310896"/>
          </a:xfrm>
          <a:prstGeom prst="rightArrow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9116567" y="1828800"/>
            <a:ext cx="22402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9317735" y="1975104"/>
            <a:ext cx="1929384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指标评估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9317735" y="2359152"/>
            <a:ext cx="1929384" cy="8412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统计路径长度、规划耗时、重规划次数和冲突情况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3886200"/>
            <a:ext cx="10424160" cy="98869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平台把原本分散的地图、设备、货物和任务数据放到同一套仿真流程中。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拓扑和场景先校验再运行，减少因为数据不一致导致的仿真失败。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9611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微软雅黑" panose="020B0503020204020204" charset="-122"/>
              </a:rPr>
              <a:t>拓扑编辑器解决的问题</a:t>
            </a:r>
            <a:endParaRPr sz="2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685800" y="1645920"/>
            <a:ext cx="32918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886968" y="1792224"/>
            <a:ext cx="2980944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建模问题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886968" y="2176272"/>
            <a:ext cx="2980944" cy="2971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真实仓库布局包含道路、库位、站台、输送带和障碍区域。人工描述难以直接用于路径规划，修改后也难以快速验证。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4434840" y="1645920"/>
            <a:ext cx="32918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4636008" y="1792224"/>
            <a:ext cx="2980944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校验问题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4636008" y="2176272"/>
            <a:ext cx="2980944" cy="2971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节点越界、节点重叠、设备放在障碍上、输送带断开等问题会导致仿真无法启动。编辑器在保存前给出明确检查结果。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8183879" y="1645920"/>
            <a:ext cx="32918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8385047" y="1792224"/>
            <a:ext cx="2980944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复用问题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8385047" y="2176272"/>
            <a:ext cx="2980944" cy="2971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同一张仓库地图可以绑定多个场景，用于测试不同任务量、机器人数量和调度策略，减少重复建模成本。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9611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微软雅黑" panose="020B0503020204020204" charset="-122"/>
              </a:rPr>
              <a:t>场景配置解决的问题</a:t>
            </a:r>
            <a:endParaRPr sz="2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935" y="1600200"/>
            <a:ext cx="10400665" cy="465645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场景明确本次仿真使用哪一张拓扑，避免任务数据和地图数据脱节。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机器人参数与拓扑设备节点绑定，车辆起点、类型和可服务区域保持一致。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货物与任务被统一管理，系统可以判断哪些货物待分配、执行中或已完成。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调度策略和路径策略在场景中配置，方便在相同条件下对比算法效果。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拓扑发生变化后，场景同步更新相关设备和节点，降低引用失效风险。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endParaRPr lang="zh-CN" altLang="en-US">
              <a:sym typeface="+mn-ea"/>
            </a:endParaR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lang="zh-CN" altLang="en-US">
                <a:sym typeface="+mn-ea"/>
              </a:rPr>
              <a:t>是否存在不可达路径</a:t>
            </a:r>
            <a:endParaRPr lang="zh-CN" altLang="en-US"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lang="zh-CN" altLang="en-US">
                <a:sym typeface="+mn-ea"/>
              </a:rPr>
              <a:t>是否发生车辆冲突</a:t>
            </a:r>
            <a:endParaRPr lang="zh-CN" altLang="en-US"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lang="zh-CN" altLang="en-US">
                <a:sym typeface="+mn-ea"/>
              </a:rPr>
              <a:t>是否出现死锁</a:t>
            </a:r>
            <a:endParaRPr lang="zh-CN" altLang="en-US"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lang="zh-CN" altLang="en-US">
                <a:sym typeface="+mn-ea"/>
              </a:rPr>
              <a:t>哪些任务耗时较长</a:t>
            </a:r>
            <a:endParaRPr lang="zh-CN" altLang="en-US"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lang="zh-CN" altLang="en-US">
                <a:sym typeface="+mn-ea"/>
              </a:rPr>
              <a:t>哪些区域容易拥堵</a:t>
            </a:r>
            <a:endParaRPr lang="zh-CN" altLang="en-US"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lang="zh-CN" altLang="en-US">
                <a:sym typeface="+mn-ea"/>
              </a:rPr>
              <a:t>算法是否需要重规划</a:t>
            </a:r>
            <a:endParaRPr lang="zh-CN" altLang="en-US"/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7745730" y="1946510"/>
            <a:ext cx="3131820" cy="6323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7878230" y="2042874"/>
            <a:ext cx="2927047" cy="30289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输入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7878230" y="2295828"/>
            <a:ext cx="2927047" cy="28384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拓扑 ID、机器人、货物、任务、策略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4"/>
            </p:custDataLst>
          </p:nvPr>
        </p:nvSpPr>
        <p:spPr>
          <a:xfrm>
            <a:off x="7745730" y="2819806"/>
            <a:ext cx="3131820" cy="6323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7878230" y="2916170"/>
            <a:ext cx="2927047" cy="30289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处理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7878230" y="3169124"/>
            <a:ext cx="2927047" cy="28384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同步拓扑设备，检查引用和参数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7"/>
            </p:custDataLst>
          </p:nvPr>
        </p:nvSpPr>
        <p:spPr>
          <a:xfrm>
            <a:off x="7745730" y="3693102"/>
            <a:ext cx="3131820" cy="6323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7878230" y="3789466"/>
            <a:ext cx="2927047" cy="30289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输出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7878230" y="4042420"/>
            <a:ext cx="2927047" cy="28384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可用于仿真的完整场景数据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9611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微软雅黑" panose="020B0503020204020204" charset="-122"/>
              </a:rPr>
              <a:t>场景接口约束</a:t>
            </a:r>
            <a:endParaRPr sz="2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49808" y="1508760"/>
            <a:ext cx="1828800" cy="45720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850392" y="1591056"/>
            <a:ext cx="1627632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拓扑引用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2788920" y="1536192"/>
            <a:ext cx="8229600" cy="4389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微软雅黑" panose="020B0503020204020204" charset="-122"/>
              </a:rPr>
              <a:t>topologyId 必须存在，场景只能绑定已经保存的拓扑</a:t>
            </a:r>
            <a:endParaRPr sz="15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749808" y="2295144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850392" y="2377440"/>
            <a:ext cx="1627632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设备一致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2788920" y="2322576"/>
            <a:ext cx="8229600" cy="4389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微软雅黑" panose="020B0503020204020204" charset="-122"/>
              </a:rPr>
              <a:t>场景机器人必须能映射到拓扑设备节点，类型不能错配</a:t>
            </a:r>
            <a:endParaRPr sz="15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7"/>
            </p:custDataLst>
          </p:nvPr>
        </p:nvSpPr>
        <p:spPr>
          <a:xfrm>
            <a:off x="749808" y="3081528"/>
            <a:ext cx="1828800" cy="45720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850392" y="3163824"/>
            <a:ext cx="1627632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节点有效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2788920" y="3108960"/>
            <a:ext cx="8229600" cy="4389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微软雅黑" panose="020B0503020204020204" charset="-122"/>
              </a:rPr>
              <a:t>任务涉及的库位、站台、入口和起点必须来自当前拓扑</a:t>
            </a:r>
            <a:endParaRPr sz="15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10"/>
            </p:custDataLst>
          </p:nvPr>
        </p:nvSpPr>
        <p:spPr>
          <a:xfrm>
            <a:off x="749808" y="3867912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850392" y="3950208"/>
            <a:ext cx="1627632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同步更新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2788920" y="3895344"/>
            <a:ext cx="8229600" cy="4389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微软雅黑" panose="020B0503020204020204" charset="-122"/>
              </a:rPr>
              <a:t>拓扑修改后，场景需要同步设备、节点和任务引用</a:t>
            </a:r>
            <a:endParaRPr sz="15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3"/>
            </p:custDataLst>
          </p:nvPr>
        </p:nvSpPr>
        <p:spPr>
          <a:xfrm>
            <a:off x="749808" y="4654296"/>
            <a:ext cx="1828800" cy="45720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850392" y="4736592"/>
            <a:ext cx="1627632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运行校验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2788920" y="4681728"/>
            <a:ext cx="8229600" cy="4389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微软雅黑" panose="020B0503020204020204" charset="-122"/>
              </a:rPr>
              <a:t>启动仿真前检查拓扑和场景一致性，失败时返回具体错误</a:t>
            </a:r>
            <a:endParaRPr sz="15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0976" y="5705856"/>
            <a:ext cx="10158984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接口设计重点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0976" y="6016752"/>
            <a:ext cx="10158984" cy="7315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先保存、再校验、后运行。任何缺失引用或类型错配都会在进入仿真前被拦截。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9611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微软雅黑" panose="020B0503020204020204" charset="-122"/>
              </a:rPr>
              <a:t>任务分配约束</a:t>
            </a:r>
            <a:endParaRPr sz="2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13232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914400" y="1655064"/>
            <a:ext cx="3118104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可分配对象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914400" y="2039112"/>
            <a:ext cx="3118104" cy="3657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只有空闲机器人可以接收新任务。同一机器人不能同时执行多个任务，同一货物不能被重复派单。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4370832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4572000" y="1655064"/>
            <a:ext cx="3118104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业务匹配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4572000" y="2039112"/>
            <a:ext cx="3118104" cy="3657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任务必须绑定有效货物。货物所在库位、服务区域和机器人类型需要匹配，例如 CTU 任务优先由 CTU 设备处理。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8028431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8229599" y="1655064"/>
            <a:ext cx="3118104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路径可达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8229599" y="2039112"/>
            <a:ext cx="3118104" cy="3657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0000"/>
              </a:lnSpc>
            </a:pPr>
            <a:r>
              <a:rPr sz="1250" b="0">
                <a:solidFill>
                  <a:srgbClr val="586270"/>
                </a:solidFill>
                <a:latin typeface="微软雅黑" panose="020B0503020204020204" charset="-122"/>
              </a:rPr>
              <a:t>机器人必须能从当前位置到达取货点，并继续到达交接点或目标站台。不可达任务不会进入正常调度。</a:t>
            </a:r>
            <a:endParaRPr sz="1250" b="0">
              <a:solidFill>
                <a:srgbClr val="58627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5989320"/>
            <a:ext cx="1024128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微软雅黑" panose="020B0503020204020204" charset="-122"/>
              </a:rPr>
              <a:t>分配策略综合路径距离、设备状态、服务区域和任务优先级，选择成本更低的执行方案。</a:t>
            </a:r>
            <a:endParaRPr sz="1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11480" y="109728"/>
            <a:ext cx="211010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chemeClr val="tx1"/>
                </a:solidFill>
                <a:latin typeface="微软雅黑" panose="020B0503020204020204" charset="-122"/>
              </a:rPr>
              <a:t> 算法总体架构</a:t>
            </a:r>
            <a:endParaRPr sz="24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1828800" cy="1078992"/>
          </a:xfrm>
          <a:prstGeom prst="roundRect">
            <a:avLst/>
          </a:prstGeom>
          <a:solidFill>
            <a:srgbClr val="D19748"/>
          </a:solidFill>
          <a:ln>
            <a:solidFill>
              <a:srgbClr val="D1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货物录入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000">
                <a:solidFill>
                  <a:srgbClr val="FFFFFF"/>
                </a:solidFill>
                <a:latin typeface="微软雅黑" panose="020B0503020204020204" charset="-122"/>
              </a:rPr>
              <a:t>从库位初始库存读取 cargoId</a:t>
            </a:r>
            <a:endParaRPr sz="100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651760" y="1600200"/>
            <a:ext cx="1828800" cy="1078992"/>
          </a:xfrm>
          <a:prstGeom prst="roundRect">
            <a:avLst/>
          </a:prstGeom>
          <a:solidFill>
            <a:srgbClr val="36908A"/>
          </a:solidFill>
          <a:ln>
            <a:solidFill>
              <a:srgbClr val="369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双向 A*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000">
                <a:solidFill>
                  <a:srgbClr val="FFFFFF"/>
                </a:solidFill>
                <a:latin typeface="微软雅黑" panose="020B0503020204020204" charset="-122"/>
              </a:rPr>
              <a:t>从起点和终点同时估价候选路线</a:t>
            </a:r>
            <a:endParaRPr sz="100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846320" y="1600200"/>
            <a:ext cx="1828800" cy="1078992"/>
          </a:xfrm>
          <a:prstGeom prst="roundRect">
            <a:avLst/>
          </a:prstGeom>
          <a:solidFill>
            <a:srgbClr val="1E2F4C"/>
          </a:solidFill>
          <a:ln>
            <a:solidFill>
              <a:srgbClr val="1E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时空 A*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000">
                <a:solidFill>
                  <a:srgbClr val="FFFFFF"/>
                </a:solidFill>
                <a:latin typeface="微软雅黑" panose="020B0503020204020204" charset="-122"/>
              </a:rPr>
              <a:t>Time-expanded A* 计算逐格执行路径</a:t>
            </a:r>
            <a:endParaRPr sz="100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040880" y="1600200"/>
            <a:ext cx="1828800" cy="1078992"/>
          </a:xfrm>
          <a:prstGeom prst="roundRect">
            <a:avLst/>
          </a:prstGeom>
          <a:solidFill>
            <a:srgbClr val="B6433A"/>
          </a:solidFill>
          <a:ln>
            <a:solidFill>
              <a:srgbClr val="B6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多车协同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000">
                <a:solidFill>
                  <a:srgbClr val="FFFFFF"/>
                </a:solidFill>
                <a:latin typeface="微软雅黑" panose="020B0503020204020204" charset="-122"/>
              </a:rPr>
              <a:t>CBS 处理空间与时间冲突</a:t>
            </a:r>
            <a:endParaRPr sz="100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235440" y="1600200"/>
            <a:ext cx="1828800" cy="1078992"/>
          </a:xfrm>
          <a:prstGeom prst="roundRect">
            <a:avLst/>
          </a:prstGeom>
          <a:solidFill>
            <a:srgbClr val="D19748"/>
          </a:solidFill>
          <a:ln>
            <a:solidFill>
              <a:srgbClr val="D1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输送带交接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000">
                <a:solidFill>
                  <a:srgbClr val="FFFFFF"/>
                </a:solidFill>
                <a:latin typeface="微软雅黑" panose="020B0503020204020204" charset="-122"/>
              </a:rPr>
              <a:t>货物独立沿有向输送带流转</a:t>
            </a:r>
            <a:endParaRPr sz="100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304288" y="2121408"/>
            <a:ext cx="256032" cy="0"/>
          </a:xfrm>
          <a:prstGeom prst="line">
            <a:avLst/>
          </a:prstGeom>
          <a:ln w="25400">
            <a:solidFill>
              <a:srgbClr val="D1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98848" y="2121408"/>
            <a:ext cx="256032" cy="0"/>
          </a:xfrm>
          <a:prstGeom prst="line">
            <a:avLst/>
          </a:prstGeom>
          <a:ln w="25400">
            <a:solidFill>
              <a:srgbClr val="D1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93408" y="2121408"/>
            <a:ext cx="256032" cy="0"/>
          </a:xfrm>
          <a:prstGeom prst="line">
            <a:avLst/>
          </a:prstGeom>
          <a:ln w="25400">
            <a:solidFill>
              <a:srgbClr val="D1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87968" y="2121408"/>
            <a:ext cx="256032" cy="0"/>
          </a:xfrm>
          <a:prstGeom prst="line">
            <a:avLst/>
          </a:prstGeom>
          <a:ln w="25400">
            <a:solidFill>
              <a:srgbClr val="D1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" y="3246120"/>
            <a:ext cx="10972800" cy="2057400"/>
          </a:xfrm>
          <a:prstGeom prst="roundRect">
            <a:avLst/>
          </a:prstGeom>
          <a:solidFill>
            <a:srgbClr val="FFFBF4"/>
          </a:solidFill>
          <a:ln w="15240">
            <a:solidFill>
              <a:srgbClr val="DF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46120"/>
            <a:ext cx="10972800" cy="329184"/>
          </a:xfrm>
          <a:prstGeom prst="rect">
            <a:avLst/>
          </a:prstGeom>
          <a:solidFill>
            <a:srgbClr val="36908A"/>
          </a:solidFill>
          <a:ln>
            <a:solidFill>
              <a:srgbClr val="369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273552"/>
            <a:ext cx="10643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落地后的调度语义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3685032"/>
            <a:ext cx="1060704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C3C3C"/>
                </a:solidFill>
                <a:latin typeface="微软雅黑" panose="020B0503020204020204" charset="-122"/>
              </a:rPr>
              <a:t>1. CTU / 四向车只负责把货物从库位运到传送带入口，不直接上输送带。</a:t>
            </a:r>
            <a:endParaRPr sz="12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C3C3C"/>
                </a:solidFill>
                <a:latin typeface="微软雅黑" panose="020B0503020204020204" charset="-122"/>
              </a:rPr>
              <a:t>2. 传送带入口必须能沿有向路径到达站台，否则视为非法入口。</a:t>
            </a:r>
            <a:endParaRPr sz="12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C3C3C"/>
                </a:solidFill>
                <a:latin typeface="微软雅黑" panose="020B0503020204020204" charset="-122"/>
              </a:rPr>
              <a:t>3. 进入 CBS 后，所有车的行驶位置都带时间维度，避免占格冲突与交换冲突。</a:t>
            </a:r>
            <a:endParaRPr sz="12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C3C3C"/>
                </a:solidFill>
                <a:latin typeface="微软雅黑" panose="020B0503020204020204" charset="-122"/>
              </a:rPr>
              <a:t>4. 双向 A* 的调用次数、扩展节点数和缓存命中会在网页运行面板中显示，便于汇报与调试。</a:t>
            </a:r>
            <a:endParaRPr sz="120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11480" y="109728"/>
            <a:ext cx="211010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chemeClr val="tx1"/>
                </a:solidFill>
                <a:latin typeface="微软雅黑" panose="020B0503020204020204" charset="-122"/>
              </a:rPr>
              <a:t> 任务分配算法</a:t>
            </a:r>
            <a:endParaRPr sz="24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669280" cy="4526280"/>
          </a:xfrm>
          <a:prstGeom prst="roundRect">
            <a:avLst/>
          </a:prstGeom>
          <a:solidFill>
            <a:srgbClr val="FFFBF4"/>
          </a:solidFill>
          <a:ln w="15240">
            <a:solidFill>
              <a:srgbClr val="DF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367" y="1533652"/>
            <a:ext cx="5340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chemeClr val="tx1"/>
                </a:solidFill>
                <a:latin typeface="微软雅黑" panose="020B0503020204020204" charset="-122"/>
              </a:rPr>
              <a:t>代价模型</a:t>
            </a:r>
            <a:endParaRPr sz="14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807972"/>
            <a:ext cx="5303520" cy="2512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对于每个待运 cargoId，系统枚举所有可用车辆和可达入口。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候选路线估价引入双向 A*：从车辆侧和目标侧同时搜索，在中间汇合后得到候选路径成本。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总代价由车辆到库位距离、库位到入口距离、入口到站台距离、缓存位距离和入口排队惩罚组成。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系统始终选择总代价最小的组合，避免“最近车去最远货”的浪费。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如果某车不属于对应库区，则直接剔除，不参与候选。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257800" cy="4526280"/>
          </a:xfrm>
          <a:prstGeom prst="roundRect">
            <a:avLst/>
          </a:prstGeom>
          <a:solidFill>
            <a:srgbClr val="FFFBF4"/>
          </a:solidFill>
          <a:ln w="15240">
            <a:solidFill>
              <a:srgbClr val="DF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4137" y="1520952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chemeClr val="tx1"/>
                </a:solidFill>
                <a:latin typeface="微软雅黑" panose="020B0503020204020204" charset="-122"/>
              </a:rPr>
              <a:t>效果</a:t>
            </a:r>
            <a:endParaRPr sz="14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89204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任务不会只按顺序派，而是按综合代价自动分配。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同一区域内的空闲车辆会优先被利用，减少空跑。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当入口拥挤时，会自动改选更合适的入口。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货物任务创建后可自动进入 pending 或 assigned 状态，无需人工逐个点选。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11480" y="109728"/>
            <a:ext cx="272224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chemeClr val="tx1"/>
                </a:solidFill>
                <a:latin typeface="微软雅黑" panose="020B0503020204020204" charset="-122"/>
              </a:rPr>
              <a:t> 加入算法前后对比</a:t>
            </a:r>
            <a:endParaRPr sz="24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02920" y="1417320"/>
            <a:ext cx="5440680" cy="4526280"/>
          </a:xfrm>
          <a:prstGeom prst="roundRect">
            <a:avLst/>
          </a:prstGeom>
          <a:solidFill>
            <a:srgbClr val="FFFBF4"/>
          </a:solidFill>
          <a:ln w="15240">
            <a:solidFill>
              <a:srgbClr val="DF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741807" y="1581912"/>
            <a:ext cx="5111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chemeClr val="tx1"/>
                </a:solidFill>
                <a:latin typeface="微软雅黑" panose="020B0503020204020204" charset="-122"/>
              </a:rPr>
              <a:t>加入算法前</a:t>
            </a:r>
            <a:endParaRPr sz="14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685800" y="1856232"/>
            <a:ext cx="5074920" cy="152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只关注画图和基础仿真。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车辆可能跑远路，派单不经济。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多车运行容易冲突、卡顿。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CTU / 四向车可能跨区取货。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动态障碍出现后，重规划不够直观。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4"/>
            </p:custDataLst>
          </p:nvPr>
        </p:nvSpPr>
        <p:spPr>
          <a:xfrm>
            <a:off x="6263640" y="1417320"/>
            <a:ext cx="5440680" cy="4526280"/>
          </a:xfrm>
          <a:prstGeom prst="roundRect">
            <a:avLst/>
          </a:prstGeom>
          <a:solidFill>
            <a:srgbClr val="FFFBF4"/>
          </a:solidFill>
          <a:ln w="15240">
            <a:solidFill>
              <a:srgbClr val="DF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6592697" y="1581912"/>
            <a:ext cx="5111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chemeClr val="tx1"/>
                </a:solidFill>
                <a:latin typeface="微软雅黑" panose="020B0503020204020204" charset="-122"/>
              </a:rPr>
              <a:t>加入算法后</a:t>
            </a:r>
            <a:endParaRPr sz="14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6446520" y="1856232"/>
            <a:ext cx="5074920" cy="152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有了全局代价最小的任务分配。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新增双向 A*，用于任务分配和传送带入口候选估价。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有了 Time-expanded A* 的时空执行路径。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有了 CBS 的多车协同避让。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C3C3C"/>
                </a:solidFill>
                <a:latin typeface="微软雅黑" panose="020B0503020204020204" charset="-122"/>
              </a:rPr>
              <a:t>有了库区约束与入口重选。</a:t>
            </a:r>
            <a:endParaRPr sz="160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2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3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4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5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6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7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8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9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10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11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12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13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14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15.xml><?xml version="1.0" encoding="utf-8"?>
<p:tagLst xmlns:p="http://schemas.openxmlformats.org/presentationml/2006/main">
  <p:tag name="KSO_WM_DIAGRAM_VIRTUALLY_FRAME" val="{&quot;height&quot;:116.64000000000001,&quot;left&quot;:59.04,&quot;top&quot;:144,&quot;width&quot;:835.1999212598427}"/>
</p:tagLst>
</file>

<file path=ppt/tags/tag16.xml><?xml version="1.0" encoding="utf-8"?>
<p:tagLst xmlns:p="http://schemas.openxmlformats.org/presentationml/2006/main">
  <p:tag name="KSO_WM_DIAGRAM_VIRTUALLY_FRAME" val="{&quot;height&quot;:284.4,&quot;left&quot;:54,&quot;top&quot;:129.6,&quot;width&quot;:849.5999212598424}"/>
</p:tagLst>
</file>

<file path=ppt/tags/tag17.xml><?xml version="1.0" encoding="utf-8"?>
<p:tagLst xmlns:p="http://schemas.openxmlformats.org/presentationml/2006/main">
  <p:tag name="KSO_WM_DIAGRAM_VIRTUALLY_FRAME" val="{&quot;height&quot;:284.4,&quot;left&quot;:54,&quot;top&quot;:129.6,&quot;width&quot;:849.5999212598424}"/>
</p:tagLst>
</file>

<file path=ppt/tags/tag18.xml><?xml version="1.0" encoding="utf-8"?>
<p:tagLst xmlns:p="http://schemas.openxmlformats.org/presentationml/2006/main">
  <p:tag name="KSO_WM_DIAGRAM_VIRTUALLY_FRAME" val="{&quot;height&quot;:284.4,&quot;left&quot;:54,&quot;top&quot;:129.6,&quot;width&quot;:849.5999212598424}"/>
</p:tagLst>
</file>

<file path=ppt/tags/tag19.xml><?xml version="1.0" encoding="utf-8"?>
<p:tagLst xmlns:p="http://schemas.openxmlformats.org/presentationml/2006/main">
  <p:tag name="KSO_WM_DIAGRAM_VIRTUALLY_FRAME" val="{&quot;height&quot;:284.4,&quot;left&quot;:54,&quot;top&quot;:129.6,&quot;width&quot;:849.5999212598424}"/>
</p:tagLst>
</file>

<file path=ppt/tags/tag20.xml><?xml version="1.0" encoding="utf-8"?>
<p:tagLst xmlns:p="http://schemas.openxmlformats.org/presentationml/2006/main">
  <p:tag name="KSO_WM_DIAGRAM_VIRTUALLY_FRAME" val="{&quot;height&quot;:284.4,&quot;left&quot;:54,&quot;top&quot;:129.6,&quot;width&quot;:849.5999212598424}"/>
</p:tagLst>
</file>

<file path=ppt/tags/tag21.xml><?xml version="1.0" encoding="utf-8"?>
<p:tagLst xmlns:p="http://schemas.openxmlformats.org/presentationml/2006/main">
  <p:tag name="KSO_WM_DIAGRAM_VIRTUALLY_FRAME" val="{&quot;height&quot;:284.4,&quot;left&quot;:54,&quot;top&quot;:129.6,&quot;width&quot;:849.5999212598424}"/>
</p:tagLst>
</file>

<file path=ppt/tags/tag22.xml><?xml version="1.0" encoding="utf-8"?>
<p:tagLst xmlns:p="http://schemas.openxmlformats.org/presentationml/2006/main">
  <p:tag name="KSO_WM_DIAGRAM_VIRTUALLY_FRAME" val="{&quot;height&quot;:284.4,&quot;left&quot;:54,&quot;top&quot;:129.6,&quot;width&quot;:849.5999212598424}"/>
</p:tagLst>
</file>

<file path=ppt/tags/tag23.xml><?xml version="1.0" encoding="utf-8"?>
<p:tagLst xmlns:p="http://schemas.openxmlformats.org/presentationml/2006/main">
  <p:tag name="KSO_WM_DIAGRAM_VIRTUALLY_FRAME" val="{&quot;height&quot;:284.4,&quot;left&quot;:54,&quot;top&quot;:129.6,&quot;width&quot;:849.5999212598424}"/>
</p:tagLst>
</file>

<file path=ppt/tags/tag24.xml><?xml version="1.0" encoding="utf-8"?>
<p:tagLst xmlns:p="http://schemas.openxmlformats.org/presentationml/2006/main">
  <p:tag name="KSO_WM_DIAGRAM_VIRTUALLY_FRAME" val="{&quot;height&quot;:284.4,&quot;left&quot;:54,&quot;top&quot;:129.6,&quot;width&quot;:849.5999212598424}"/>
</p:tagLst>
</file>

<file path=ppt/tags/tag25.xml><?xml version="1.0" encoding="utf-8"?>
<p:tagLst xmlns:p="http://schemas.openxmlformats.org/presentationml/2006/main">
  <p:tag name="KSO_WM_DIAGRAM_VIRTUALLY_FRAME" val="{&quot;height&quot;:191.7,&quot;left&quot;:609.9,&quot;top&quot;:150.2,&quot;width&quot;:246.6}"/>
</p:tagLst>
</file>

<file path=ppt/tags/tag26.xml><?xml version="1.0" encoding="utf-8"?>
<p:tagLst xmlns:p="http://schemas.openxmlformats.org/presentationml/2006/main">
  <p:tag name="KSO_WM_DIAGRAM_VIRTUALLY_FRAME" val="{&quot;height&quot;:191.7,&quot;left&quot;:609.9,&quot;top&quot;:150.2,&quot;width&quot;:246.6}"/>
</p:tagLst>
</file>

<file path=ppt/tags/tag27.xml><?xml version="1.0" encoding="utf-8"?>
<p:tagLst xmlns:p="http://schemas.openxmlformats.org/presentationml/2006/main">
  <p:tag name="KSO_WM_DIAGRAM_VIRTUALLY_FRAME" val="{&quot;height&quot;:191.7,&quot;left&quot;:609.9,&quot;top&quot;:150.2,&quot;width&quot;:246.6}"/>
</p:tagLst>
</file>

<file path=ppt/tags/tag28.xml><?xml version="1.0" encoding="utf-8"?>
<p:tagLst xmlns:p="http://schemas.openxmlformats.org/presentationml/2006/main">
  <p:tag name="KSO_WM_DIAGRAM_VIRTUALLY_FRAME" val="{&quot;height&quot;:191.7,&quot;left&quot;:609.9,&quot;top&quot;:150.2,&quot;width&quot;:246.6}"/>
</p:tagLst>
</file>

<file path=ppt/tags/tag29.xml><?xml version="1.0" encoding="utf-8"?>
<p:tagLst xmlns:p="http://schemas.openxmlformats.org/presentationml/2006/main">
  <p:tag name="KSO_WM_DIAGRAM_VIRTUALLY_FRAME" val="{&quot;height&quot;:191.7,&quot;left&quot;:609.9,&quot;top&quot;:150.2,&quot;width&quot;:246.6}"/>
</p:tagLst>
</file>

<file path=ppt/tags/tag30.xml><?xml version="1.0" encoding="utf-8"?>
<p:tagLst xmlns:p="http://schemas.openxmlformats.org/presentationml/2006/main">
  <p:tag name="KSO_WM_DIAGRAM_VIRTUALLY_FRAME" val="{&quot;height&quot;:191.7,&quot;left&quot;:609.9,&quot;top&quot;:150.2,&quot;width&quot;:246.6}"/>
</p:tagLst>
</file>

<file path=ppt/tags/tag31.xml><?xml version="1.0" encoding="utf-8"?>
<p:tagLst xmlns:p="http://schemas.openxmlformats.org/presentationml/2006/main">
  <p:tag name="KSO_WM_DIAGRAM_VIRTUALLY_FRAME" val="{&quot;height&quot;:191.7,&quot;left&quot;:609.9,&quot;top&quot;:150.2,&quot;width&quot;:246.6}"/>
</p:tagLst>
</file>

<file path=ppt/tags/tag32.xml><?xml version="1.0" encoding="utf-8"?>
<p:tagLst xmlns:p="http://schemas.openxmlformats.org/presentationml/2006/main">
  <p:tag name="KSO_WM_DIAGRAM_VIRTUALLY_FRAME" val="{&quot;height&quot;:191.7,&quot;left&quot;:609.9,&quot;top&quot;:150.2,&quot;width&quot;:246.6}"/>
</p:tagLst>
</file>

<file path=ppt/tags/tag33.xml><?xml version="1.0" encoding="utf-8"?>
<p:tagLst xmlns:p="http://schemas.openxmlformats.org/presentationml/2006/main">
  <p:tag name="KSO_WM_DIAGRAM_VIRTUALLY_FRAME" val="{&quot;height&quot;:191.7,&quot;left&quot;:609.9,&quot;top&quot;:150.2,&quot;width&quot;:246.6}"/>
</p:tagLst>
</file>

<file path=ppt/tags/tag34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35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36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37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38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39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40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41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42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43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44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45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46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47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48.xml><?xml version="1.0" encoding="utf-8"?>
<p:tagLst xmlns:p="http://schemas.openxmlformats.org/presentationml/2006/main">
  <p:tag name="KSO_WM_DIAGRAM_VIRTUALLY_FRAME" val="{&quot;height&quot;:284.4,&quot;left&quot;:59.04,&quot;top&quot;:118.8,&quot;width&quot;:808.5600000000001}"/>
</p:tagLst>
</file>

<file path=ppt/tags/tag49.xml><?xml version="1.0" encoding="utf-8"?>
<p:tagLst xmlns:p="http://schemas.openxmlformats.org/presentationml/2006/main">
  <p:tag name="KSO_WM_DIAGRAM_VIRTUALLY_FRAME" val="{&quot;height&quot;:338.4,&quot;left&quot;:56.160000000000004,&quot;top&quot;:118.8,&quot;width&quot;:845.9999212598425}"/>
</p:tagLst>
</file>

<file path=ppt/tags/tag50.xml><?xml version="1.0" encoding="utf-8"?>
<p:tagLst xmlns:p="http://schemas.openxmlformats.org/presentationml/2006/main">
  <p:tag name="KSO_WM_DIAGRAM_VIRTUALLY_FRAME" val="{&quot;height&quot;:338.4,&quot;left&quot;:56.160000000000004,&quot;top&quot;:118.8,&quot;width&quot;:845.9999212598425}"/>
</p:tagLst>
</file>

<file path=ppt/tags/tag51.xml><?xml version="1.0" encoding="utf-8"?>
<p:tagLst xmlns:p="http://schemas.openxmlformats.org/presentationml/2006/main">
  <p:tag name="KSO_WM_DIAGRAM_VIRTUALLY_FRAME" val="{&quot;height&quot;:338.4,&quot;left&quot;:56.160000000000004,&quot;top&quot;:118.8,&quot;width&quot;:845.9999212598425}"/>
</p:tagLst>
</file>

<file path=ppt/tags/tag52.xml><?xml version="1.0" encoding="utf-8"?>
<p:tagLst xmlns:p="http://schemas.openxmlformats.org/presentationml/2006/main">
  <p:tag name="KSO_WM_DIAGRAM_VIRTUALLY_FRAME" val="{&quot;height&quot;:338.4,&quot;left&quot;:56.160000000000004,&quot;top&quot;:118.8,&quot;width&quot;:845.9999212598425}"/>
</p:tagLst>
</file>

<file path=ppt/tags/tag53.xml><?xml version="1.0" encoding="utf-8"?>
<p:tagLst xmlns:p="http://schemas.openxmlformats.org/presentationml/2006/main">
  <p:tag name="KSO_WM_DIAGRAM_VIRTUALLY_FRAME" val="{&quot;height&quot;:338.4,&quot;left&quot;:56.160000000000004,&quot;top&quot;:118.8,&quot;width&quot;:845.9999212598425}"/>
</p:tagLst>
</file>

<file path=ppt/tags/tag54.xml><?xml version="1.0" encoding="utf-8"?>
<p:tagLst xmlns:p="http://schemas.openxmlformats.org/presentationml/2006/main">
  <p:tag name="KSO_WM_DIAGRAM_VIRTUALLY_FRAME" val="{&quot;height&quot;:338.4,&quot;left&quot;:56.160000000000004,&quot;top&quot;:118.8,&quot;width&quot;:845.9999212598425}"/>
</p:tagLst>
</file>

<file path=ppt/tags/tag55.xml><?xml version="1.0" encoding="utf-8"?>
<p:tagLst xmlns:p="http://schemas.openxmlformats.org/presentationml/2006/main">
  <p:tag name="KSO_WM_DIAGRAM_VIRTUALLY_FRAME" val="{&quot;height&quot;:338.4,&quot;left&quot;:56.160000000000004,&quot;top&quot;:118.8,&quot;width&quot;:845.9999212598425}"/>
</p:tagLst>
</file>

<file path=ppt/tags/tag56.xml><?xml version="1.0" encoding="utf-8"?>
<p:tagLst xmlns:p="http://schemas.openxmlformats.org/presentationml/2006/main">
  <p:tag name="KSO_WM_DIAGRAM_VIRTUALLY_FRAME" val="{&quot;height&quot;:338.4,&quot;left&quot;:56.160000000000004,&quot;top&quot;:118.8,&quot;width&quot;:845.9999212598425}"/>
</p:tagLst>
</file>

<file path=ppt/tags/tag57.xml><?xml version="1.0" encoding="utf-8"?>
<p:tagLst xmlns:p="http://schemas.openxmlformats.org/presentationml/2006/main">
  <p:tag name="KSO_WM_DIAGRAM_VIRTUALLY_FRAME" val="{&quot;height&quot;:338.4,&quot;left&quot;:56.160000000000004,&quot;top&quot;:118.8,&quot;width&quot;:845.9999212598425}"/>
</p:tagLst>
</file>

<file path=ppt/tags/tag58.xml><?xml version="1.0" encoding="utf-8"?>
<p:tagLst xmlns:p="http://schemas.openxmlformats.org/presentationml/2006/main">
  <p:tag name="KSO_WM_DIAGRAM_VIRTUALLY_FRAME" val="{&quot;height&quot;:356.4,&quot;left&quot;:39.6,&quot;top&quot;:111.6,&quot;width&quot;:882}"/>
</p:tagLst>
</file>

<file path=ppt/tags/tag59.xml><?xml version="1.0" encoding="utf-8"?>
<p:tagLst xmlns:p="http://schemas.openxmlformats.org/presentationml/2006/main">
  <p:tag name="KSO_WM_DIAGRAM_VIRTUALLY_FRAME" val="{&quot;height&quot;:356.4,&quot;left&quot;:39.6,&quot;top&quot;:111.6,&quot;width&quot;:882}"/>
</p:tagLst>
</file>

<file path=ppt/tags/tag60.xml><?xml version="1.0" encoding="utf-8"?>
<p:tagLst xmlns:p="http://schemas.openxmlformats.org/presentationml/2006/main">
  <p:tag name="KSO_WM_DIAGRAM_VIRTUALLY_FRAME" val="{&quot;height&quot;:356.4,&quot;left&quot;:39.6,&quot;top&quot;:111.6,&quot;width&quot;:882}"/>
</p:tagLst>
</file>

<file path=ppt/tags/tag61.xml><?xml version="1.0" encoding="utf-8"?>
<p:tagLst xmlns:p="http://schemas.openxmlformats.org/presentationml/2006/main">
  <p:tag name="KSO_WM_DIAGRAM_VIRTUALLY_FRAME" val="{&quot;height&quot;:356.4,&quot;left&quot;:39.6,&quot;top&quot;:111.6,&quot;width&quot;:882}"/>
</p:tagLst>
</file>

<file path=ppt/tags/tag62.xml><?xml version="1.0" encoding="utf-8"?>
<p:tagLst xmlns:p="http://schemas.openxmlformats.org/presentationml/2006/main">
  <p:tag name="KSO_WM_DIAGRAM_VIRTUALLY_FRAME" val="{&quot;height&quot;:356.4,&quot;left&quot;:39.6,&quot;top&quot;:111.6,&quot;width&quot;:882}"/>
</p:tagLst>
</file>

<file path=ppt/tags/tag63.xml><?xml version="1.0" encoding="utf-8"?>
<p:tagLst xmlns:p="http://schemas.openxmlformats.org/presentationml/2006/main">
  <p:tag name="KSO_WM_DIAGRAM_VIRTUALLY_FRAME" val="{&quot;height&quot;:356.4,&quot;left&quot;:39.6,&quot;top&quot;:111.6,&quot;width&quot;:88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1742</Words>
  <Application>WPS 演示</Application>
  <PresentationFormat>On-screen Show (4:3)</PresentationFormat>
  <Paragraphs>166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WPS_1627110112</cp:lastModifiedBy>
  <cp:revision>2</cp:revision>
  <dcterms:created xsi:type="dcterms:W3CDTF">2013-01-27T09:14:00Z</dcterms:created>
  <dcterms:modified xsi:type="dcterms:W3CDTF">2026-09-06T13:23:19Z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8F03B90A2AEA4D8C818D98F7985E17BB_12</vt:lpwstr>
  </property>
</Properties>
</file>